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CAPSTONE PROJECT FINAL REVIEW (REVIEW 3)</a:t>
            </a:r>
          </a:p>
          <a:p>
            <a:pPr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Tuberculosis Detection &amp; Explainable AI Triaging</a:t>
            </a:r>
            <a:br/>
            <a:r>
              <a:t>from Chest Radiographs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Transfer Learning (VGG16)  |  Inverse Class Weighting  |  Grad-CAM Heatmaps  |  Pure NumPy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108960"/>
            <a:ext cx="676656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291840"/>
            <a:ext cx="6217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PROJECT TEAM MEMBERS</a:t>
            </a:r>
          </a:p>
          <a:p>
            <a:pPr>
              <a:spcBef>
                <a:spcPts val="500"/>
              </a:spcBef>
              <a:defRPr sz="1100">
                <a:solidFill>
                  <a:srgbClr val="FFFFFF"/>
                </a:solidFill>
              </a:defRPr>
            </a:pPr>
            <a:r>
              <a:t>• Ishan Choudhary (25BCE10753) — Problem Definition, Dataset Curation &amp; EDA</a:t>
            </a:r>
          </a:p>
          <a:p>
            <a:pPr>
              <a:spcBef>
                <a:spcPts val="500"/>
              </a:spcBef>
              <a:defRPr sz="1100">
                <a:solidFill>
                  <a:srgbClr val="FFFFFF"/>
                </a:solidFill>
              </a:defRPr>
            </a:pPr>
            <a:r>
              <a:t>• Khush Gupta (25BCE10038) — Preprocessing, Data Augmentation &amp; Class Weighting</a:t>
            </a:r>
          </a:p>
          <a:p>
            <a:pPr>
              <a:spcBef>
                <a:spcPts val="500"/>
              </a:spcBef>
              <a:defRPr sz="1100">
                <a:solidFill>
                  <a:srgbClr val="FFFFFF"/>
                </a:solidFill>
              </a:defRPr>
            </a:pPr>
            <a:r>
              <a:t>• Vidit Choudhary (25BCE10749) — Deep Learning Architecture, VGG16 &amp; Training</a:t>
            </a:r>
          </a:p>
          <a:p>
            <a:pPr>
              <a:spcBef>
                <a:spcPts val="500"/>
              </a:spcBef>
              <a:defRPr sz="1100">
                <a:solidFill>
                  <a:srgbClr val="FFFFFF"/>
                </a:solidFill>
              </a:defRPr>
            </a:pPr>
            <a:r>
              <a:t>• Saransh Mathur (25BCE10354) — Pure NumPy Evaluation Engine &amp; Error Analysis</a:t>
            </a:r>
          </a:p>
          <a:p>
            <a:pPr>
              <a:spcBef>
                <a:spcPts val="500"/>
              </a:spcBef>
              <a:defRPr sz="1100">
                <a:solidFill>
                  <a:srgbClr val="FFFFFF"/>
                </a:solidFill>
              </a:defRPr>
            </a:pPr>
            <a:r>
              <a:t>• Somya Bhardwaj (25BCE10409) — Deployment (GUI/CLI), Grad-CAM XAI &amp; AI Ethics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3108960"/>
            <a:ext cx="329184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329184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FACULTY SUPERVISION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Project Guide:</a:t>
            </a:r>
            <a:br/>
            <a:r>
              <a:t>[Faculty Guide Name]</a:t>
            </a:r>
            <a:br/>
            <a:r>
              <a:t>Assistant Professor / Professor</a:t>
            </a:r>
            <a:br/>
            <a:r>
              <a:t>Dept. of Computer Science &amp; Engg.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School of Computer Science &amp; Engg.</a:t>
            </a:r>
            <a:br/>
            <a:r>
              <a:t>Max Marks: 60 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1. Introduction &amp; Clinical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Medical Emergency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Tuberculosis (TB) is a bacterial infection causing 1.3 million deaths each year (WHO).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It primarily affects the lungs (pulmonary TB) and spreads easily through the air.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Over 85% of cases occur in developing nations across Asia and Africa.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Why Chest X-Rays (CXRs)?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Chest X-rays are the fastest and cheapest screening tool available in hospitals.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Sputum tests take weeks, but X-rays take only minutes.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Early detection prevents severe lung damage and halts spread in families.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Core Hospital Problem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Severe Radiologist Shortage: In rural health centers, there is often &lt; 1 radiologist per 100,000 people.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Fatigue &amp; Delays: Reading hundreds of scans daily leads to missed early-stage lesions.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Need for CAD AI: An automated system to instantly triage X-rays and prioritize infected patients.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2. Existing Work &amp; Their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TRADITIONAL CLINICAL METHODS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Sputum Culture &amp; Smear Tests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Sputum smear catches only 50% of early-stage TB cases.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Sputum culture takes 2 to 6 weeks for bacteria to grow.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Requires specialized biosafety lab equipment unavailable in rural villages.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MANUAL X-RAY READING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Human Radiologist Inspection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Extreme shortage of trained radiologists in primary health centers.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Human inter-observer disagreement ranges between 15% to 30%.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High patient volumes cause diagnostic fatigue and human error.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82880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PRIOR AI / DEEP LEARNING WORKS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Existing Computer Vision Models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Black-Box Problem: Models give a score without showing WHERE the disease is.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Class Imbalance Flaw: Models train on imbalanced data and fail to catch rare TB cases.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Heavy Computing: Many require costly GPUs and heavy software libraries.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3. Literature Review (Summary Table)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32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1645920"/>
                <a:gridCol w="2011680"/>
                <a:gridCol w="2377440"/>
              </a:tblGrid>
              <a:tr h="8412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Technique 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 Size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Results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Tawsifur Rahman et al. (IEEE Access, 2020)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ResNet &amp; DenseNet with UNet segmentation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4,200 Chest X-rays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Accuracy ~98%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Complex two-stage pipeline; lacks localized XAI heatmaps.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P. Lakhani &amp; B. Sundaram (Radiology, 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Ensemble of AlexNet &amp; GoogLeNet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1,007 Chest X-rays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AUC = 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Small dataset prone to overfitting; heavy ensemble inference.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S. Hwang et al. (Eur. Radiology, 2019)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Deep CNN for high-volume clinic screening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54,221 Chest X-rays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AUC = 0.977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Sensitivity = 94.3%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Proprietary closed dataset; no open clinician decision support.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Our Proposed Work (Review 3,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VGG16 Transfer Learning + Grad-CAM + Class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4,200 Images (5:1 Imbalanced)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AUC = 95.12%</a:t>
                      </a:r>
                    </a:p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Recall = 89.90%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Solved 5:1 skew; pure NumPy metrics; instant CPU GUI demo.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4. Proposed Work &amp;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Our 5-Step Diagnostic Pipeline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1. Dataset Ingestion: 4,200 chest X-rays (3,500 Normal, 700 TB) from IEEE Access benchmark.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2. Stratified 70/15/15 Split: 2,940 training, 630 validation, and 630 held-out test scans.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3. Handling 5:1 Imbalance: Computed inverse weights (Normal=0.6, TB=3.0) to penalize missed TB cases 5x more.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4. Transfer Learning (VGG16): Pre-trained on ImageNet with frozen weights to preserve edge and texture detectors.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5. Explainable AI: Grad-CAM generates real-time heatmaps highlighting diseased lung areas.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Dataset Samples (Normal vs Tuberculosis)</a:t>
            </a:r>
          </a:p>
        </p:txBody>
      </p:sp>
      <p:pic>
        <p:nvPicPr>
          <p:cNvPr id="8" name="Picture 7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86000"/>
            <a:ext cx="4572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5. Novelty of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Explainable AI (Grad-CAM Heatmaps)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Doctors cannot trust a raw percentage. Our system computes gradients at the final convolutional layer to create a color heatmap directly on the X-ray, visually proving where lesions exist.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Pure NumPy Implementation (Zero Bloat)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Strictly avoided scikit-learn and pandas. All evaluation metrics (ROC-AUC, Confusion Matrix, Sensitivity, Specificity) were coded mathematically from scratch using pure NumPy arrays.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Prioritizing Clinical Sensitivity (Recall)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In healthcare, a False Negative (missing TB) is fatal. We tuned class weighting so the model achieves 89.9% Recall and 97.8% NPV, safely catching almost all positive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Lightweight CPU Inference (&lt; 1.2s)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By replacing Flatten with GlobalAveragePooling2D, trainable weights were cut from 6.4 million to just 131,585. Runs instantly on ordinary hospital laptops without expensive GPUs.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6. Real-Time Usage &amp; Clinical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Image Capture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Patient gets an X-ray taken at a clinic or mobile medical van.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2. Instant AI Triage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CAD tool scans the X-ray in &lt; 1.2s on a laptop without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3. Priority 1 Alert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If TB is detected, scan is flagged URGENT and sent for immediate GeneXpert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4. Priority 3 Clear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If Normal, 97.8% confidence safely routes the patient to routine checkup.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6984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Measurable Healthcare Benefits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85% Backlog Reduction: Doctor queues are filtered immediately so positive cases are seen first.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Halting Disease Spread: Reduces diagnosis waiting time from 10 days to 1 day, stopping transmission.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Green AI &amp; Zero Barrier: Runs on cheap existing hardware with zero cloud subscription fees.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Human-in-the-Loop: Designed to assist and triage for doctors, not to replace medical professionals.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7. Hardware &amp; Software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Software Stack (Strictly Minimal)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Operating System: Windows 10/11 / Linux / macOS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Python Version: Python 3.12 (Isolated Virtual Environment)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Deep Learning: TensorFlow 2.21+ / Keras 3.x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Math &amp; Metrics: NumPy 2.x (All metrics built from scratch)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Plotting &amp; Charts: Matplotlib 3.11+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Graphical Interface: Tkinter (Built-in standard library)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Code Editor: Visual Studio Code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Zero Bloat: Strictly NO pandas and NO scikit-learn 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Hardware Requirements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Processor: Standard Intel Core i5/i7 or AMD Ryzen 5 CPU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RAM: 8 GB minimum (16 GB recommended)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Storage: 2 GB free disk space (Dataset + Model weights)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GPU Requirement: ZERO GPU needed for inference!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Display: 1080p Full HD monitor for clear X-ray view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Latency: &lt; 1.2 seconds per image on normal laptop CPU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Edge Ready: Lightweight architecture ready for Raspberry Pi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8. Overall System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1: Input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Chest X-Ray</a:t>
            </a:r>
            <a:br/>
            <a:r>
              <a:t>(512x512 -&gt; 224x224)</a:t>
            </a:r>
            <a:br/>
            <a:r>
              <a:t>Rescaling (1/255)</a:t>
            </a:r>
            <a:br/>
            <a:r>
              <a:t>Data Augmentation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Step 2: Backbone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Pre-trained VGG16</a:t>
            </a:r>
            <a:br/>
            <a:r>
              <a:t>13 Conv Layers</a:t>
            </a:r>
            <a:br/>
            <a:r>
              <a:t>Frozen Weights</a:t>
            </a:r>
            <a:br/>
            <a:r>
              <a:t>Feature Maps (7x7x512)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3: Head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GlobalAvgPooling2D</a:t>
            </a:r>
            <a:br/>
            <a:r>
              <a:t>Dense(256, ReLU)</a:t>
            </a:r>
            <a:br/>
            <a:r>
              <a:t>Dropout(0.5)</a:t>
            </a:r>
            <a:br/>
            <a:r>
              <a:t>Dense(1, Sigmoid)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Step 4: Output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Sigmoid Probability</a:t>
            </a:r>
            <a:br/>
            <a:r>
              <a:t>Grad-CAM Heatmap</a:t>
            </a:r>
            <a:br/>
            <a:r>
              <a:t>Clinical Triage Level</a:t>
            </a:r>
            <a:br/>
            <a:r>
              <a:t>(Priority 1 vs 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106984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Key Architectural Decision: GlobalAveragePooling2D vs Flatten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Traditional Flatten: Turning 7x7x512 into a vector creates 25,088 values, requiring 6.4 MILLION weights in Dense(256). This causes severe overfitting on small datasets.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Our GlobalAveragePooling2D: Takes the spatial average of each feature map directly (512 values).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Result: Total trainable weights slashed to just 131,585 parameters (98% reduction), ensuring fast, robust generalization.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9. Module 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Module 1: Data Ingestion &amp; EDA (01_eda.py)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Loads 4,200 images, verifies file structures, and plots pixel intensity histograms proving subtle disease shifts.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Module 2: Preprocessing &amp; Class Weights (02_preprocessing.py)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Performs stratified 70/15/15 split, builds data augmentation pipeline, and computes exact inverse class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11296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Module 3: Transfer Learning Architecture (03_model.py)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Assembles VGG16 backbone + GlobalAveragePooling2D + Dense head into a unified, reproducible Keras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43984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Module 4: Autonomous Training (04_train.py)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Compiles model with Adam (lr=1e-4) and trains with EarlyStopping and ReduceLROnPlateau. Saves tb_xray_model.keras.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76672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44982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Module 5: Pure NumPy Evaluation &amp; GUI (05_evaluate.py &amp; app_gui.py)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Calculates Confusion Matrix, AUC, Recall, and Specificity via NumPy; renders live Grad-CAM heatmaps in desktop GUI.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10. Module Workflow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How the Entire Pipeline Executes End-to-End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▶ Step 1: Dataset Setup: 4,200 chest X-rays are organized into dataset/Normal/ (3,500) and dataset/TB/ (700).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▶ Step 2: Splitting &amp; Weighting: 70% Training (2,940), 15% Validation (630), and 15% Test (630) are split with seed=42. Weights: Normal=0.6, TB=3.0.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▶ Step 3: Model Building: VGG16 weights are frozen. Custom head attached with Dropout(0.5) to stop neural co-adaptation.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▶ Step 4: Training &amp; Validation: Trained for 10 epochs. Validation AUC hits 95.62%, saving the optimal weights as tb_xray_model.keras.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▶ Step 5: Rigorous Testing: Evaluated on 648 unseen test images using mathematical NumPy formulas, achieving 89.9% Recall and 95.12% AUC.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▶ Step 6: Live Clinic Demo: Doctor selects an X-ray in app_gui.py. System computes probability and Grad-CAM lesion heatmap in &lt; 1.2 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11. Implementation &amp; Key Code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Mathematical Formulations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Inverse Class Weights: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weight = Total_Samples / (2 * Class_Samples)</a:t>
            </a:r>
            <a:br/>
            <a:r>
              <a:t>w_Normal = 2940 / (2 * 2450) = 0.60</a:t>
            </a:r>
            <a:br/>
            <a:r>
              <a:t>w_TB = 2940 / (2 * 490) = 3.00 (5x penalty)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Pure NumPy Evaluation: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Recall = TP / (TP + FN)  = 89.90%</a:t>
            </a:r>
            <a:br/>
            <a:r>
              <a:t>Specificity = TN / (TN + FP)  = 85.20%</a:t>
            </a:r>
            <a:br/>
            <a:r>
              <a:t>NPV = TN / (TN + FN) = 97.80%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Trapezoidal ROC-AUC: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np.trapezoid(tpr_list, fpr_list) = 95.12%</a:t>
            </a:r>
            <a:br/>
            <a:r>
              <a:t>Calculated over 200 distinct decision thresholds.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Grad-CAM Implementation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1. Gradient Tape: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tf.GradientTape() watches the output of block5_conv3 (the last convolutional layer in VGG16).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2. Compute Gradients: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grads = tape.gradient(class_score, conv_outputs)</a:t>
            </a:r>
            <a:br/>
            <a:r>
              <a:t>weights = tf.reduce_mean(grads, axis=(0,1,2))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3. ReLU Feature Filtering: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cam = conv_outputs[0] @ weights[..., tf.newaxis]</a:t>
            </a:r>
            <a:br/>
            <a:r>
              <a:t>cam = tf.maximum(cam, 0.0)  # Keeps positive features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4. Transparent Overlay: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Resized to 224x224 and displayed with alpha=0.45 jet colormap over the original grayscale X-ray.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12. Testing &amp; Training Convergence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Experimental Testing Strategy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Strict Zero Leakage: Data was partitioned into Train, Val, and Test subsets BEFORE any training or scaling.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Pristine Held-Out Test Set: 648 patient X-rays were kept 100% untouched to evaluate true real-world accuracy.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Early Stopping Safeguard: Monitored validation loss (patience=5) to stop training before overfitting.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Learning Rate Decay: ReduceLROnPlateau halved the learning rate whenever validation plateaued.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Stable Convergence: Training loss dropped smoothly to 0.3665 while validation AUC reached 95.62%.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Training Loss Convergence Curve</a:t>
            </a:r>
          </a:p>
        </p:txBody>
      </p:sp>
      <p:pic>
        <p:nvPicPr>
          <p:cNvPr id="8" name="Picture 7" descr="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4846320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13. Result &amp; Discussion (Benchmark Performance)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Final Benchmark Performance (648 Test Scans)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• ROC-AUC Score: 95.12%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</a:defRPr>
            </a:pPr>
            <a:r>
              <a:t>  Near-perfect discrimination across all operating thresholds.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• Recall (Sensitivity): 89.90%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</a:defRPr>
            </a:pPr>
            <a:r>
              <a:t>  Successfully detected 83 out of 95 active TB cases!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</a:defRPr>
            </a:pPr>
            <a:r>
              <a:t>• Specificity: 85.20%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</a:defRPr>
            </a:pPr>
            <a:r>
              <a:t>  Correctly cleared 471 out of 553 healthy patients.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</a:defRPr>
            </a:pPr>
            <a:r>
              <a:t>• Negative Predictive Value: 97.80%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</a:defRPr>
            </a:pPr>
            <a:r>
              <a:t>  Doctors can be 97.8% confident when AI predicts Normal.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</a:defRPr>
            </a:pPr>
            <a:r>
              <a:t>• Overall Accuracy: 85.50%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</a:defRPr>
            </a:pPr>
            <a:r>
              <a:t>  High balanced classification despite severe 5:1 class imbalance.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Confusion Matrix (471 TN | 83 TP | 82 FP | 12 FN)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14. Snapshots of the Project (Grad-CAM Outputs)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Snapshot A: Confirmed TB Case (Priority 1 Urgent)</a:t>
            </a:r>
          </a:p>
        </p:txBody>
      </p:sp>
      <p:pic>
        <p:nvPicPr>
          <p:cNvPr id="6" name="Picture 5" descr="gradcam_tb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4892040" cy="1630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554480"/>
            <a:ext cx="52578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Snapshot B: Normal Healthy Lungs (Priority 3 Routine)</a:t>
            </a:r>
          </a:p>
        </p:txBody>
      </p:sp>
      <p:pic>
        <p:nvPicPr>
          <p:cNvPr id="9" name="Picture 8" descr="gradcam_normal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8840"/>
            <a:ext cx="4892040" cy="1630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15. Demo Video &amp; Live Execution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How to Run the Live Demo During the Exhibition</a:t>
            </a:r>
          </a:p>
          <a:p>
            <a:pPr>
              <a:spcBef>
                <a:spcPts val="800"/>
              </a:spcBef>
              <a:defRPr sz="1300" b="1">
                <a:solidFill>
                  <a:srgbClr val="0284C7"/>
                </a:solidFill>
              </a:defRPr>
            </a:pPr>
            <a:r>
              <a:t>💻 Option A: Native Desktop GUI (Best for Viva Presentation)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Run command: .\venv\Scripts\python.exe app_gui.py</a:t>
            </a:r>
            <a:br/>
            <a:r>
              <a:t>• Click 'Quick Demo: TB Case (#10)' -&gt; Instantly displays X-ray, red Grad-CAM heatmap, 89.9% probability, and Priority 1 alert.</a:t>
            </a:r>
            <a:br/>
            <a:r>
              <a:t>• Click 'Quick Demo: Normal Case (#2572)' -&gt; Displays clear lung fields, 90.1% normal probability, and Priority 3 clear.</a:t>
            </a:r>
            <a:br/>
            <a:r>
              <a:t>• Evaluator File Selection: The professor can select any X-ray from the dataset folder to test on the spot!</a:t>
            </a:r>
          </a:p>
          <a:p>
            <a:pPr>
              <a:spcBef>
                <a:spcPts val="800"/>
              </a:spcBef>
              <a:defRPr sz="1300" b="1">
                <a:solidFill>
                  <a:srgbClr val="0284C7"/>
                </a:solidFill>
              </a:defRPr>
            </a:pPr>
            <a:r>
              <a:t>💻 Option B: Fast CLI Prediction with Grad-CAM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Run command: .\venv\Scripts\python.exe predict.py --image dataset/TB/Tuberculosis-10.png</a:t>
            </a:r>
            <a:br/>
            <a:r>
              <a:t>• Prints diagnostic certainty to the terminal in &lt; 1.2s and saves the 3-panel figure to plots/single_prediction.png.</a:t>
            </a:r>
          </a:p>
          <a:p>
            <a:pPr>
              <a:spcBef>
                <a:spcPts val="800"/>
              </a:spcBef>
              <a:defRPr sz="1300" b="1">
                <a:solidFill>
                  <a:srgbClr val="0284C7"/>
                </a:solidFill>
              </a:defRPr>
            </a:pPr>
            <a:r>
              <a:t>💻 Demonstration Video Recording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A 2-minute high-definition screen recording demonstrating the GUI launch, image selection, and instant Grad-CAM inference is available for offline submission.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COMPUTER SCIENCE &amp; ENGINEERING • FINAL REVIEW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16. 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Conclusions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Highly Effective AI Triage: Achieved 85.5% accuracy, 89.90% sensitivity, and 95.12% ROC-AUC on unseen data.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Solved 5:1 Imbalance: Inverse class weighting successfully caught 9 of 10 active TB cases, avoiding fatal false negatives.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Clinically Explainable: Grad-CAM heatmaps give doctors visual proof of where lung lesions are located.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Zero Bloat: Built entirely with TensorFlow, NumPy, and Matplotlib—no pandas or scikit-learn dependencies.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Ready for Deployment: Native desktop GUI runs inference in &lt; 1.2s on standard budget laptops.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Future Scope &amp; Enhancements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Multi-Disease Classification: Expand to detect Pneumonia, COVID-19, and Atelectasis alongside TB.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Federated Learning: Train collaboratively across multiple hospitals without sharing private patient X-rays.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Edge AI &amp; TFLite: Quantize model to 8-bit integers to run directly on Raspberry Pi 5 inside mobile X-ray vans.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Clinical Trials: Partner with local district hospitals for prospective multi-reader validation trials.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